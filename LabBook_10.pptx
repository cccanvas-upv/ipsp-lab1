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9"/>
  </p:notesMasterIdLst>
  <p:handoutMasterIdLst>
    <p:handoutMasterId r:id="rId10"/>
  </p:handoutMasterIdLst>
  <p:sldIdLst>
    <p:sldId id="256" r:id="rId2"/>
    <p:sldId id="295" r:id="rId3"/>
    <p:sldId id="290" r:id="rId4"/>
    <p:sldId id="292" r:id="rId5"/>
    <p:sldId id="291" r:id="rId6"/>
    <p:sldId id="297" r:id="rId7"/>
    <p:sldId id="288" r:id="rId8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107" d="100"/>
          <a:sy n="107" d="100"/>
        </p:scale>
        <p:origin x="1212" y="10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28/09/2026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28/09/2026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09253237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69AA65-166B-474B-A6C9-9858D86A94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38158223-A8BA-05F6-464C-EC03A9FB8C5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CB4DF-C329-8F47-9ECE-661B5B2BF9A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41B2276-A4E2-DFBF-0088-6997E86C9FE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6231598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1.0 WAVEGUIDES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NULL"/><Relationship Id="rId3" Type="http://schemas.openxmlformats.org/officeDocument/2006/relationships/image" Target="../media/image3.svg"/><Relationship Id="rId7" Type="http://schemas.openxmlformats.org/officeDocument/2006/relationships/image" Target="NUL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NUL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1.0. </a:t>
            </a:r>
            <a:r>
              <a:rPr lang="es-ES" sz="3200" b="1" dirty="0" err="1">
                <a:latin typeface="Lucida Sans"/>
                <a:cs typeface="Lucida Sans"/>
              </a:rPr>
              <a:t>Waveguides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https://github.com/cccanvas-upv/ipsp-lab1.</a:t>
            </a:r>
            <a:r>
              <a:rPr lang="en-US" kern="0">
                <a:solidFill>
                  <a:sysClr val="windowText" lastClr="000000"/>
                </a:solidFill>
                <a:sym typeface="Wingdings" pitchFamily="2" charset="2"/>
              </a:rPr>
              <a:t>git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>
                <a:solidFill>
                  <a:sysClr val="windowText" lastClr="000000"/>
                </a:solidFill>
                <a:sym typeface="Wingdings" pitchFamily="2" charset="2"/>
              </a:rPr>
              <a:t>Clone </a:t>
            </a: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Jupyter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WAVEGUIDES_Student.ipynb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sz="2000" b="1" i="1" u="sng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902765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47061" y="3983757"/>
            <a:ext cx="76200" cy="986155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795654" y="3983757"/>
            <a:ext cx="1010309" cy="875240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  <a:endParaRPr lang="es-ES" sz="1400" dirty="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lang="es-CO" sz="1400" dirty="0">
                <a:latin typeface="Calibri"/>
                <a:cs typeface="Calibri"/>
              </a:rPr>
              <a:t>/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lang="es-CO" sz="1400" dirty="0" err="1">
                <a:latin typeface="Calibri"/>
                <a:cs typeface="Calibri"/>
              </a:rPr>
              <a:t>thickness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84805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504743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1984805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3983988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391400" y="3422925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8473440" y="3773445"/>
            <a:ext cx="1758314" cy="76200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93378" y="3532730"/>
            <a:ext cx="733425" cy="24002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8473440" y="3983757"/>
            <a:ext cx="1758950" cy="986155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10472623" y="4338253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20" name="object 73">
            <a:extLst>
              <a:ext uri="{FF2B5EF4-FFF2-40B4-BE49-F238E27FC236}">
                <a16:creationId xmlns:a16="http://schemas.microsoft.com/office/drawing/2014/main" id="{C699977C-9138-F9B9-E43D-0CCB01AEB75F}"/>
              </a:ext>
            </a:extLst>
          </p:cNvPr>
          <p:cNvSpPr txBox="1"/>
          <p:nvPr/>
        </p:nvSpPr>
        <p:spPr>
          <a:xfrm>
            <a:off x="7391400" y="4690819"/>
            <a:ext cx="39061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lang="es-ES" sz="2350" dirty="0">
              <a:latin typeface="Times New Roman"/>
              <a:cs typeface="Times New Roman"/>
            </a:endParaRPr>
          </a:p>
          <a:p>
            <a:pPr marL="18415">
              <a:lnSpc>
                <a:spcPct val="100000"/>
              </a:lnSpc>
            </a:pPr>
            <a:r>
              <a:rPr lang="es-ES" sz="1600" b="1" spc="-10" dirty="0" err="1">
                <a:latin typeface="Calibri"/>
                <a:cs typeface="Calibri"/>
              </a:rPr>
              <a:t>Slab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2" name="object 62">
            <a:extLst>
              <a:ext uri="{FF2B5EF4-FFF2-40B4-BE49-F238E27FC236}">
                <a16:creationId xmlns:a16="http://schemas.microsoft.com/office/drawing/2014/main" id="{04561701-4B4F-F208-98F6-2DAB5C1138D3}"/>
              </a:ext>
            </a:extLst>
          </p:cNvPr>
          <p:cNvSpPr/>
          <p:nvPr/>
        </p:nvSpPr>
        <p:spPr>
          <a:xfrm>
            <a:off x="8575910" y="3994221"/>
            <a:ext cx="56259" cy="694989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1" name="object 62">
            <a:extLst>
              <a:ext uri="{FF2B5EF4-FFF2-40B4-BE49-F238E27FC236}">
                <a16:creationId xmlns:a16="http://schemas.microsoft.com/office/drawing/2014/main" id="{CCA3B0D6-0C9E-B4A6-FA43-1AB5F1821674}"/>
              </a:ext>
            </a:extLst>
          </p:cNvPr>
          <p:cNvSpPr/>
          <p:nvPr/>
        </p:nvSpPr>
        <p:spPr>
          <a:xfrm>
            <a:off x="8233207" y="4689210"/>
            <a:ext cx="55008" cy="613272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3" name="object 63">
            <a:extLst>
              <a:ext uri="{FF2B5EF4-FFF2-40B4-BE49-F238E27FC236}">
                <a16:creationId xmlns:a16="http://schemas.microsoft.com/office/drawing/2014/main" id="{6394166D-0522-24AD-E666-39FE8A3FDC24}"/>
              </a:ext>
            </a:extLst>
          </p:cNvPr>
          <p:cNvSpPr txBox="1"/>
          <p:nvPr/>
        </p:nvSpPr>
        <p:spPr>
          <a:xfrm>
            <a:off x="8351994" y="4887127"/>
            <a:ext cx="674053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dirty="0" err="1">
                <a:latin typeface="Calibri"/>
                <a:cs typeface="Calibri"/>
              </a:rPr>
              <a:t>h_slab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22" name="object 63">
            <a:extLst>
              <a:ext uri="{FF2B5EF4-FFF2-40B4-BE49-F238E27FC236}">
                <a16:creationId xmlns:a16="http://schemas.microsoft.com/office/drawing/2014/main" id="{B589EB7D-B26E-4239-A5C2-F96DBBE82162}"/>
              </a:ext>
            </a:extLst>
          </p:cNvPr>
          <p:cNvSpPr txBox="1"/>
          <p:nvPr/>
        </p:nvSpPr>
        <p:spPr>
          <a:xfrm>
            <a:off x="8706378" y="3990085"/>
            <a:ext cx="138017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>
              <a:lnSpc>
                <a:spcPct val="100000"/>
              </a:lnSpc>
              <a:spcBef>
                <a:spcPts val="105"/>
              </a:spcBef>
            </a:pPr>
            <a:r>
              <a:rPr lang="es-ES" sz="1400" spc="-10" dirty="0" err="1">
                <a:latin typeface="Calibri"/>
                <a:cs typeface="Calibri"/>
              </a:rPr>
              <a:t>h_core</a:t>
            </a:r>
            <a:r>
              <a:rPr lang="es-ES" sz="1400" spc="-10" dirty="0">
                <a:latin typeface="Calibri"/>
                <a:cs typeface="Calibri"/>
              </a:rPr>
              <a:t> 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9306491" y="5257071"/>
            <a:ext cx="19805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2969899" y="5257071"/>
            <a:ext cx="215755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</p:txBody>
      </p:sp>
    </p:spTree>
    <p:extLst>
      <p:ext uri="{BB962C8B-B14F-4D97-AF65-F5344CB8AC3E}">
        <p14:creationId xmlns:p14="http://schemas.microsoft.com/office/powerpoint/2010/main" val="4739228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822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Effective index of a waveguide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AA9E72FF-B948-6B7A-8909-97C6BE95D6FB}"/>
              </a:ext>
            </a:extLst>
          </p:cNvPr>
          <p:cNvSpPr txBox="1">
            <a:spLocks/>
          </p:cNvSpPr>
          <p:nvPr/>
        </p:nvSpPr>
        <p:spPr>
          <a:xfrm>
            <a:off x="608012" y="1295400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INSTRUCTOR: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Present Python and </a:t>
            </a:r>
            <a:r>
              <a:rPr lang="en-US" sz="2000" dirty="0" err="1"/>
              <a:t>GDSFactory</a:t>
            </a:r>
            <a:r>
              <a:rPr lang="en-US" sz="2000" dirty="0"/>
              <a:t>: materials, output, results.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Explain how to run a simulation for a particular cross-section. 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Showcase how to change between shallow and deep waveguide.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how to change the wavelength and width for the waveguide analysis.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sz="2000" dirty="0"/>
              <a:t>Describe the outputs.</a:t>
            </a:r>
          </a:p>
          <a:p>
            <a:pPr marL="0" indent="0" algn="just">
              <a:buNone/>
            </a:pPr>
            <a:r>
              <a:rPr lang="en-US" sz="2000" b="1" dirty="0"/>
              <a:t>ALL EXAMPLE #1: </a:t>
            </a:r>
            <a:r>
              <a:rPr lang="en-US" sz="2000" dirty="0"/>
              <a:t>waveguide width 1.2 µm, deep </a:t>
            </a:r>
            <a:r>
              <a:rPr lang="en-US" sz="2000" dirty="0" err="1"/>
              <a:t>wvg</a:t>
            </a:r>
            <a:r>
              <a:rPr lang="en-US" sz="2000" dirty="0"/>
              <a:t>, wavelength start and end same 1.55 µm </a:t>
            </a:r>
            <a:r>
              <a:rPr lang="en-US" sz="2000" dirty="0">
                <a:sym typeface="Wingdings" pitchFamily="2" charset="2"/>
              </a:rPr>
              <a:t> all ”Run”</a:t>
            </a:r>
            <a:endParaRPr lang="en-US" sz="2000" dirty="0"/>
          </a:p>
          <a:p>
            <a:pPr marL="0" indent="0" algn="just">
              <a:buNone/>
            </a:pPr>
            <a:r>
              <a:rPr lang="en-US" sz="2000" b="1" dirty="0"/>
              <a:t>ALL: </a:t>
            </a:r>
            <a:r>
              <a:rPr lang="en-US" sz="2000" dirty="0"/>
              <a:t>Follow</a:t>
            </a:r>
            <a:r>
              <a:rPr lang="en-US" sz="2000" b="1" dirty="0"/>
              <a:t> </a:t>
            </a:r>
            <a:r>
              <a:rPr lang="en-US" sz="2000" dirty="0"/>
              <a:t>instructor, that will show how to 1) plot mode, 2) explore the results (neff …)</a:t>
            </a:r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Document all your results (neff, plot fields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of different modes, 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comparison between </a:t>
            </a:r>
            <a:r>
              <a:rPr lang="en-US" sz="1200">
                <a:latin typeface="Arial" panose="020B0604020202020204" pitchFamily="34" charset="0"/>
                <a:cs typeface="Arial" panose="020B0604020202020204" pitchFamily="34" charset="0"/>
              </a:rPr>
              <a:t>different polarizations…)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05013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Width dependence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Width 0.6 - 1.6 µm (step 0.1 µm) – Wavelength 1.55 µm 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width, polarization behavior,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…)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1EF5BFDA-8EC1-8C73-A932-F36C4DB93C73}"/>
              </a:ext>
            </a:extLst>
          </p:cNvPr>
          <p:cNvSpPr txBox="1"/>
          <p:nvPr/>
        </p:nvSpPr>
        <p:spPr>
          <a:xfrm>
            <a:off x="2286000" y="2671278"/>
            <a:ext cx="771858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</p:spTree>
    <p:extLst>
      <p:ext uri="{BB962C8B-B14F-4D97-AF65-F5344CB8AC3E}">
        <p14:creationId xmlns:p14="http://schemas.microsoft.com/office/powerpoint/2010/main" val="290011743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Wavelength behavior</a:t>
            </a:r>
            <a:br>
              <a:rPr lang="es-ES" sz="2500" spc="-5" dirty="0">
                <a:latin typeface="+mj-lt"/>
                <a:cs typeface="Lucida Sans"/>
              </a:rPr>
            </a:br>
            <a:r>
              <a:rPr lang="en-US" b="0" dirty="0"/>
              <a:t>Wavelength 1.5-1.6 µm (step 0.01 µm) – width 1.2 µm</a:t>
            </a: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(neff changes this way with wavelength, comparison between different waveguide cross-sections …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etc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8F19863-7091-B8CA-F848-DBEA5CEEA027}"/>
              </a:ext>
            </a:extLst>
          </p:cNvPr>
          <p:cNvSpPr/>
          <p:nvPr/>
        </p:nvSpPr>
        <p:spPr>
          <a:xfrm>
            <a:off x="6094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3C4E7A47-20E2-3C27-D841-5A665642F6E2}"/>
              </a:ext>
            </a:extLst>
          </p:cNvPr>
          <p:cNvSpPr txBox="1"/>
          <p:nvPr/>
        </p:nvSpPr>
        <p:spPr>
          <a:xfrm>
            <a:off x="2285455" y="2671278"/>
            <a:ext cx="19805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shallow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476841" y="1418373"/>
            <a:ext cx="53325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8281672" y="2671278"/>
            <a:ext cx="172290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plot here</a:t>
            </a:r>
          </a:p>
        </p:txBody>
      </p:sp>
      <p:sp>
        <p:nvSpPr>
          <p:cNvPr id="9" name="CuadroTexto 8">
            <a:extLst>
              <a:ext uri="{FF2B5EF4-FFF2-40B4-BE49-F238E27FC236}">
                <a16:creationId xmlns:a16="http://schemas.microsoft.com/office/drawing/2014/main" id="{8BD4C233-B5D9-B6AA-93A8-CF2F130CFF9C}"/>
              </a:ext>
            </a:extLst>
          </p:cNvPr>
          <p:cNvSpPr txBox="1"/>
          <p:nvPr/>
        </p:nvSpPr>
        <p:spPr>
          <a:xfrm>
            <a:off x="642989" y="4402885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/>
              <a:t>slab </a:t>
            </a:r>
            <a:r>
              <a:rPr lang="en-US" dirty="0"/>
              <a:t>= 150nm</a:t>
            </a:r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1DA0F9-B230-D9FC-3CE7-03BD08CF54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394400B4-EE16-8E85-AB54-E82FE3B293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39781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Waveguide compact model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- Find the compact models of the following waveguides: </a:t>
            </a:r>
            <a:br>
              <a:rPr lang="en-US" b="0" dirty="0"/>
            </a:br>
            <a:r>
              <a:rPr lang="en-US" dirty="0"/>
              <a:t>Deep</a:t>
            </a:r>
            <a:r>
              <a:rPr lang="en-US" b="0" dirty="0"/>
              <a:t> waveguide, h=300nm, w=1.2um   - </a:t>
            </a:r>
            <a:r>
              <a:rPr lang="en-US" dirty="0"/>
              <a:t>Shallow</a:t>
            </a:r>
            <a:r>
              <a:rPr lang="en-US" b="0" dirty="0"/>
              <a:t> waveguide, core h=300nm, slab h=150 nm, w = 1.2um </a:t>
            </a:r>
            <a:br>
              <a:rPr lang="en-US" b="0" dirty="0"/>
            </a:b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D53B68D-17ED-7EFB-F2B4-10DA7A772E1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9AB8697-C1EE-6E9A-6550-ACA2C3AE663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70D4A6C-5B37-EDF5-6242-74B16127E96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1.0 WAVEGUIDES</a:t>
            </a:r>
            <a:endParaRPr lang="es-ES" spc="-5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/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solidFill>
                <a:schemeClr val="bg1">
                  <a:lumMod val="95000"/>
                </a:schemeClr>
              </a:solidFill>
              <a:ln w="28575">
                <a:solidFill>
                  <a:srgbClr val="E0700D"/>
                </a:solidFill>
              </a:ln>
            </p:spPr>
            <p:txBody>
              <a:bodyPr wrap="square" rtlCol="0">
                <a:spAutoFit/>
              </a:bodyPr>
              <a:lstStyle/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Find the second-degree polynomial coefficients and relate them with the group index and the dispersion parameter. </a:t>
                </a:r>
                <a14:m>
                  <m:oMath xmlns:m="http://schemas.openxmlformats.org/officeDocument/2006/math">
                    <m:d>
                      <m:dPr>
                        <m:begChr m:val="{"/>
                        <m:endChr m:val=""/>
                        <m:ctrlPr>
                          <a:rPr lang="es-ES" sz="1200" b="0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eqArrPr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𝑒𝑓𝑓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</m:e>
                          <m:e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𝑛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𝜆</m:t>
                                </m:r>
                              </m:e>
                              <m:sub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0</m:t>
                                </m:r>
                              </m:sub>
                            </m:sSub>
                          </m:e>
                          <m:e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𝐷</m:t>
                            </m:r>
                            <m:r>
                              <a:rPr lang="es-ES" sz="1200" b="0" i="1" smtClean="0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=−</m:t>
                            </m:r>
                            <m:f>
                              <m:fPr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fPr>
                              <m:num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2</m:t>
                                </m:r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𝜆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0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3</m:t>
                                    </m:r>
                                  </m:sub>
                                </m:sSub>
                              </m:num>
                              <m:den>
                                <m: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𝑐</m:t>
                                </m:r>
                              </m:den>
                            </m:f>
                            <m:d>
                              <m:dPr>
                                <m:begChr m:val="["/>
                                <m:endChr m:val="]"/>
                                <m:ctrlPr>
                                  <a:rPr lang="es-ES" sz="1200" b="0" i="1" smtClean="0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</m:ctrlPr>
                                  </m:fPr>
                                  <m:num>
                                    <m:sSup>
                                      <m:sSupPr>
                                        <m:ctrlP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</m:ctrlPr>
                                      </m:sSupPr>
                                      <m:e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𝑠</m:t>
                                        </m:r>
                                      </m:e>
                                      <m:sup>
                                        <m:r>
                                          <a:rPr lang="es-ES" sz="1200" b="0" i="1" smtClean="0">
                                            <a:latin typeface="Cambria Math" panose="02040503050406030204" pitchFamily="18" charset="0"/>
                                            <a:cs typeface="Arial" panose="020B0604020202020204" pitchFamily="34" charset="0"/>
                                          </a:rPr>
                                          <m:t>2</m:t>
                                        </m:r>
                                      </m:sup>
                                    </m:sSup>
                                  </m:num>
                                  <m:den>
                                    <m:r>
                                      <a:rPr lang="es-ES" sz="1200" b="0" i="1" smtClean="0">
                                        <a:latin typeface="Cambria Math" panose="02040503050406030204" pitchFamily="18" charset="0"/>
                                        <a:cs typeface="Arial" panose="020B0604020202020204" pitchFamily="34" charset="0"/>
                                      </a:rPr>
                                      <m:t>𝑚</m:t>
                                    </m:r>
                                  </m:den>
                                </m:f>
                              </m:e>
                            </m:d>
                          </m:e>
                        </m:eqArr>
                      </m:e>
                    </m:d>
                  </m:oMath>
                </a14:m>
                <a:endParaRPr lang="es-ES" sz="12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</a:p>
              <a:p>
                <a:pPr algn="just"/>
                <a:r>
                  <a:rPr lang="en-US" sz="1200" dirty="0">
                    <a:latin typeface="Arial" panose="020B0604020202020204" pitchFamily="34" charset="0"/>
                    <a:cs typeface="Arial" panose="020B0604020202020204" pitchFamily="34" charset="0"/>
                  </a:rPr>
                  <a:t>Comment on the results found for the TE0 and TM0 for both deep and shallow waveguides. </a:t>
                </a:r>
              </a:p>
              <a:p>
                <a:pPr algn="just"/>
                <a:endParaRPr lang="en-US" sz="1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2" name="CuadroTexto 1">
                <a:extLst>
                  <a:ext uri="{FF2B5EF4-FFF2-40B4-BE49-F238E27FC236}">
                    <a16:creationId xmlns:a16="http://schemas.microsoft.com/office/drawing/2014/main" id="{A440F587-93A3-E474-C0B0-883BB9DAFD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1" y="4860334"/>
                <a:ext cx="11198542" cy="1361911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28575">
                <a:solidFill>
                  <a:srgbClr val="E0700D"/>
                </a:solidFill>
              </a:ln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ángulo 4">
            <a:extLst>
              <a:ext uri="{FF2B5EF4-FFF2-40B4-BE49-F238E27FC236}">
                <a16:creationId xmlns:a16="http://schemas.microsoft.com/office/drawing/2014/main" id="{A6B92C76-6772-2E00-346F-532321092C0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2886628E-6E58-1F7E-B6C6-432B9A22839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/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 smtClean="0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59B6428-4395-242F-54D8-A9FC610F2D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9440" y="2709096"/>
                <a:ext cx="5486559" cy="1200329"/>
              </a:xfrm>
              <a:prstGeom prst="rect">
                <a:avLst/>
              </a:prstGeom>
              <a:blipFill>
                <a:blip r:embed="rId7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/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b="1" dirty="0"/>
                  <a:t>neff_TE0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 </a:t>
                </a:r>
              </a:p>
              <a:p>
                <a:pPr algn="ctr"/>
                <a:r>
                  <a:rPr lang="en-US" dirty="0"/>
                  <a:t>&amp; </a:t>
                </a:r>
                <a:r>
                  <a:rPr lang="en-US" b="1" dirty="0"/>
                  <a:t>neff_TM0 vs </a:t>
                </a:r>
                <a14:m>
                  <m:oMath xmlns:m="http://schemas.openxmlformats.org/officeDocument/2006/math">
                    <m:r>
                      <a:rPr lang="es-ES" b="1" i="1">
                        <a:latin typeface="Cambria Math" panose="02040503050406030204" pitchFamily="18" charset="0"/>
                      </a:rPr>
                      <m:t>𝝀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with the second-degree polynomial fit 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9320AF78-1FC6-19F4-8E0B-8A414F20C6D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21421" y="2709096"/>
                <a:ext cx="5486559" cy="1200329"/>
              </a:xfrm>
              <a:prstGeom prst="rect">
                <a:avLst/>
              </a:prstGeom>
              <a:blipFill>
                <a:blip r:embed="rId8"/>
                <a:stretch>
                  <a:fillRect t="-2538" r="-55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CuadroTexto 7">
            <a:extLst>
              <a:ext uri="{FF2B5EF4-FFF2-40B4-BE49-F238E27FC236}">
                <a16:creationId xmlns:a16="http://schemas.microsoft.com/office/drawing/2014/main" id="{0F38E924-A0E7-A039-C837-916BA77FE89B}"/>
              </a:ext>
            </a:extLst>
          </p:cNvPr>
          <p:cNvSpPr txBox="1"/>
          <p:nvPr/>
        </p:nvSpPr>
        <p:spPr>
          <a:xfrm>
            <a:off x="6347361" y="4498712"/>
            <a:ext cx="54865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US" sz="1200" b="1" dirty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slab: 150nm</a:t>
            </a: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60544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1110</TotalTime>
  <Words>457</Words>
  <Application>Microsoft Office PowerPoint</Application>
  <PresentationFormat>Panorámica</PresentationFormat>
  <Paragraphs>90</Paragraphs>
  <Slides>7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7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7</vt:i4>
      </vt:variant>
    </vt:vector>
  </HeadingPairs>
  <TitlesOfParts>
    <vt:vector size="15" baseType="lpstr">
      <vt:lpstr>Aptos</vt:lpstr>
      <vt:lpstr>Arial</vt:lpstr>
      <vt:lpstr>Calibri</vt:lpstr>
      <vt:lpstr>Cambria Math</vt:lpstr>
      <vt:lpstr>Lucida Sans</vt:lpstr>
      <vt:lpstr>Times New Roman</vt:lpstr>
      <vt:lpstr>Wingdings</vt:lpstr>
      <vt:lpstr>Office Theme</vt:lpstr>
      <vt:lpstr>Presentación de PowerPoint</vt:lpstr>
      <vt:lpstr>Instructions General</vt:lpstr>
      <vt:lpstr>Learning outcome #1 – Effective index of a waveguide </vt:lpstr>
      <vt:lpstr>Learning outcome #2 – Width dependence Width 0.6 - 1.6 µm (step 0.1 µm) – Wavelength 1.55 µm </vt:lpstr>
      <vt:lpstr>Learning outcome #3 – Wavelength behavior Wavelength 1.5-1.6 µm (step 0.01 µm) – width 1.2 µm</vt:lpstr>
      <vt:lpstr>Learning outcome #4 – Waveguide compact model - Find the compact models of the following waveguides:  Deep waveguide, h=300nm, w=1.2um   - Shallow waveguide, core h=300nm, slab h=150 nm, w = 1.2um  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Christian Camilo Cano Vasquez</cp:lastModifiedBy>
  <cp:revision>12</cp:revision>
  <dcterms:created xsi:type="dcterms:W3CDTF">2025-01-27T02:46:57Z</dcterms:created>
  <dcterms:modified xsi:type="dcterms:W3CDTF">2026-09-28T12:18:22Z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